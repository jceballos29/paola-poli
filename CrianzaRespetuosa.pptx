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1FD3D4-A20D-8B91-F9FB-50796DA86DAC}" v="47" dt="2026-03-30T16:15:31.809"/>
    <p1510:client id="{B0FED60A-2FA6-375F-A788-E85C79561FF9}" v="4" dt="2026-03-30T16:19:23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132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Antonio Ceballos Usuga" userId="S::juan.ceballos@pi.edu.co::a364a789-6aca-48df-bc72-f486f983ff4f" providerId="AD" clId="Web-{B0FED60A-2FA6-375F-A788-E85C79561FF9}"/>
    <pc:docChg chg="modSld">
      <pc:chgData name="Juan Antonio Ceballos Usuga" userId="S::juan.ceballos@pi.edu.co::a364a789-6aca-48df-bc72-f486f983ff4f" providerId="AD" clId="Web-{B0FED60A-2FA6-375F-A788-E85C79561FF9}" dt="2026-03-30T16:19:23.222" v="2" actId="20577"/>
      <pc:docMkLst>
        <pc:docMk/>
      </pc:docMkLst>
      <pc:sldChg chg="modSp">
        <pc:chgData name="Juan Antonio Ceballos Usuga" userId="S::juan.ceballos@pi.edu.co::a364a789-6aca-48df-bc72-f486f983ff4f" providerId="AD" clId="Web-{B0FED60A-2FA6-375F-A788-E85C79561FF9}" dt="2026-03-30T16:19:23.222" v="2" actId="20577"/>
        <pc:sldMkLst>
          <pc:docMk/>
          <pc:sldMk cId="0" sldId="256"/>
        </pc:sldMkLst>
        <pc:spChg chg="mod">
          <ac:chgData name="Juan Antonio Ceballos Usuga" userId="S::juan.ceballos@pi.edu.co::a364a789-6aca-48df-bc72-f486f983ff4f" providerId="AD" clId="Web-{B0FED60A-2FA6-375F-A788-E85C79561FF9}" dt="2026-03-30T16:19:23.222" v="2" actId="20577"/>
          <ac:spMkLst>
            <pc:docMk/>
            <pc:sldMk cId="0" sldId="256"/>
            <ac:spMk id="9" creationId="{00000000-0000-0000-0000-000000000000}"/>
          </ac:spMkLst>
        </pc:spChg>
      </pc:sldChg>
    </pc:docChg>
  </pc:docChgLst>
  <pc:docChgLst>
    <pc:chgData name="Juan Antonio Ceballos Usuga" userId="S::juan.ceballos@pi.edu.co::a364a789-6aca-48df-bc72-f486f983ff4f" providerId="AD" clId="Web-{1A1FD3D4-A20D-8B91-F9FB-50796DA86DAC}"/>
    <pc:docChg chg="modSld">
      <pc:chgData name="Juan Antonio Ceballos Usuga" userId="S::juan.ceballos@pi.edu.co::a364a789-6aca-48df-bc72-f486f983ff4f" providerId="AD" clId="Web-{1A1FD3D4-A20D-8B91-F9FB-50796DA86DAC}" dt="2026-03-30T16:15:27.433" v="44" actId="20577"/>
      <pc:docMkLst>
        <pc:docMk/>
      </pc:docMkLst>
      <pc:sldChg chg="modSp">
        <pc:chgData name="Juan Antonio Ceballos Usuga" userId="S::juan.ceballos@pi.edu.co::a364a789-6aca-48df-bc72-f486f983ff4f" providerId="AD" clId="Web-{1A1FD3D4-A20D-8B91-F9FB-50796DA86DAC}" dt="2026-03-30T16:15:27.433" v="44" actId="20577"/>
        <pc:sldMkLst>
          <pc:docMk/>
          <pc:sldMk cId="0" sldId="256"/>
        </pc:sldMkLst>
        <pc:spChg chg="mod">
          <ac:chgData name="Juan Antonio Ceballos Usuga" userId="S::juan.ceballos@pi.edu.co::a364a789-6aca-48df-bc72-f486f983ff4f" providerId="AD" clId="Web-{1A1FD3D4-A20D-8B91-F9FB-50796DA86DAC}" dt="2026-03-30T16:15:27.433" v="44" actId="20577"/>
          <ac:spMkLst>
            <pc:docMk/>
            <pc:sldMk cId="0" sldId="256"/>
            <ac:spMk id="9" creationId="{00000000-0000-0000-0000-000000000000}"/>
          </ac:spMkLst>
        </pc:spChg>
        <pc:spChg chg="mod">
          <ac:chgData name="Juan Antonio Ceballos Usuga" userId="S::juan.ceballos@pi.edu.co::a364a789-6aca-48df-bc72-f486f983ff4f" providerId="AD" clId="Web-{1A1FD3D4-A20D-8B91-F9FB-50796DA86DAC}" dt="2026-03-30T16:10:53.223" v="43" actId="20577"/>
          <ac:spMkLst>
            <pc:docMk/>
            <pc:sldMk cId="0" sldId="256"/>
            <ac:spMk id="11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title>
      <c:tx>
        <c:rich>
          <a:bodyPr/>
          <a:lstStyle/>
          <a:p>
            <a:pPr>
              <a:defRPr sz="900" b="0" i="0" u="none" strike="noStrike">
                <a:solidFill>
                  <a:srgbClr val="888888"/>
                </a:solidFill>
                <a:latin typeface="Arial"/>
              </a:defRPr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</a:rPr>
              <a:t>Efectividad percibida: Acompanamiento vs. Aislamiento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Efectividad (%)</c:v>
                </c:pt>
              </c:strCache>
            </c:strRef>
          </c:tx>
          <c:spPr>
            <a:solidFill>
              <a:srgbClr val="AAAAA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A71-48D4-BB64-D74FC8D2DC24}"/>
              </c:ext>
            </c:extLst>
          </c:dPt>
          <c:dPt>
            <c:idx val="1"/>
            <c:invertIfNegative val="0"/>
            <c:bubble3D val="0"/>
            <c:spPr>
              <a:solidFill>
                <a:srgbClr val="6B9E7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A71-48D4-BB64-D74FC8D2DC2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C3E3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Time-Out (Tiempo Fuera)</c:v>
                </c:pt>
                <c:pt idx="1">
                  <c:v>Time-In (Acompanamiento)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82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A71-48D4-BB64-D74FC8D2DC2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55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D07F91-E64D-4646-9EEF-09B568070F09}" type="datetimeFigureOut">
              <a:t>30/03/2026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9E24B3-206D-4CEC-9C05-171CD157F22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227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onedrive.live.com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-1097280"/>
            <a:ext cx="5029200" cy="5029200"/>
          </a:xfrm>
          <a:prstGeom prst="ellipse">
            <a:avLst/>
          </a:prstGeom>
          <a:solidFill>
            <a:srgbClr val="6B9E78">
              <a:alpha val="25000"/>
            </a:srgbClr>
          </a:solidFill>
          <a:ln w="12700">
            <a:solidFill>
              <a:srgbClr val="6B9E78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5943600" y="274320"/>
            <a:ext cx="3200400" cy="3200400"/>
          </a:xfrm>
          <a:prstGeom prst="ellipse">
            <a:avLst/>
          </a:prstGeom>
          <a:solidFill>
            <a:srgbClr val="C97D5B">
              <a:alpha val="20000"/>
            </a:srgbClr>
          </a:solidFill>
          <a:ln w="12700">
            <a:solidFill>
              <a:srgbClr val="C97D5B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09728" cy="256032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5303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Crianza Respetuosa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85800" y="1005840"/>
            <a:ext cx="2011680" cy="32004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6" name="Text 4"/>
          <p:cNvSpPr/>
          <p:nvPr/>
        </p:nvSpPr>
        <p:spPr>
          <a:xfrm>
            <a:off x="685800" y="10058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EDUCACION INICIAL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85800" y="2212848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dirty="0">
                <a:solidFill>
                  <a:srgbClr val="6B9E7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la Primera Infancia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" y="2907792"/>
            <a:ext cx="5029200" cy="6858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Fundamentos, neurociencia y estrategias</a:t>
            </a:r>
            <a:endParaRPr lang="en-US" sz="1250" dirty="0">
              <a:latin typeface="Calibri"/>
              <a:ea typeface="Calibri"/>
              <a:cs typeface="Calibri"/>
            </a:endParaRPr>
          </a:p>
          <a:p>
            <a:pPr marL="0" indent="0" algn="l">
              <a:buNone/>
            </a:pPr>
            <a:r>
              <a:rPr lang="en-US" sz="1250" dirty="0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para </a:t>
            </a:r>
            <a:r>
              <a:rPr lang="en-US" sz="1250" dirty="0" err="1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acompañar</a:t>
            </a:r>
            <a:r>
              <a:rPr lang="en-US" sz="1250" dirty="0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 a </a:t>
            </a:r>
            <a:r>
              <a:rPr lang="en-US" sz="1250" dirty="0" err="1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los</a:t>
            </a:r>
            <a:r>
              <a:rPr lang="en-US" sz="1250" dirty="0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 3 </a:t>
            </a:r>
            <a:r>
              <a:rPr lang="en-US" sz="1250" dirty="0" err="1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años</a:t>
            </a:r>
            <a:endParaRPr lang="en-US" sz="1250" dirty="0">
              <a:ea typeface="Calibri"/>
              <a:cs typeface="Calibri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85800" y="3703320"/>
            <a:ext cx="3657600" cy="0"/>
          </a:xfrm>
          <a:prstGeom prst="line">
            <a:avLst/>
          </a:prstGeom>
          <a:noFill/>
          <a:ln w="1905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r>
              <a:rPr lang="en-US" sz="1000" b="1" dirty="0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Ginna Paola García Gómez</a:t>
            </a:r>
            <a:r>
              <a:rPr lang="en-US" sz="1000">
                <a:solidFill>
                  <a:srgbClr val="AABFB0"/>
                </a:solidFill>
                <a:latin typeface="Calibri"/>
                <a:ea typeface="Calibri"/>
                <a:cs typeface="Calibri"/>
              </a:rPr>
              <a:t>   | TIC 1939 UVRE1 1TI – 2026-1T</a:t>
            </a:r>
          </a:p>
        </p:txBody>
      </p:sp>
      <p:sp>
        <p:nvSpPr>
          <p:cNvPr id="12" name="Shape 10"/>
          <p:cNvSpPr/>
          <p:nvPr/>
        </p:nvSpPr>
        <p:spPr>
          <a:xfrm>
            <a:off x="137160" y="228600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393192" y="228600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649224" y="228600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905256" y="228600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137160" y="484632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393192" y="484632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Shape 16"/>
          <p:cNvSpPr/>
          <p:nvPr/>
        </p:nvSpPr>
        <p:spPr>
          <a:xfrm>
            <a:off x="649224" y="484632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905256" y="484632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137160" y="740664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Shape 19"/>
          <p:cNvSpPr/>
          <p:nvPr/>
        </p:nvSpPr>
        <p:spPr>
          <a:xfrm>
            <a:off x="393192" y="740664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649224" y="740664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905256" y="740664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649224" y="996696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Shape 22"/>
          <p:cNvSpPr/>
          <p:nvPr/>
        </p:nvSpPr>
        <p:spPr>
          <a:xfrm>
            <a:off x="137160" y="996696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Shape 25"/>
          <p:cNvSpPr/>
          <p:nvPr/>
        </p:nvSpPr>
        <p:spPr>
          <a:xfrm>
            <a:off x="905256" y="996696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393192" y="996696"/>
            <a:ext cx="64008" cy="64008"/>
          </a:xfrm>
          <a:prstGeom prst="ellipse">
            <a:avLst/>
          </a:prstGeom>
          <a:solidFill>
            <a:srgbClr val="6B9E78">
              <a:alpha val="40000"/>
            </a:srgbClr>
          </a:solidFill>
          <a:ln w="12700">
            <a:solidFill>
              <a:srgbClr val="6B9E7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:dissolve/>
      </p:transition>
    </mc:Choice>
    <mc:Fallback>
      <p:transition spd="slow">
        <p:dissolv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5" grpId="0" animBg="1"/>
      <p:bldP spid="6" grpId="0" animBg="1"/>
      <p:bldP spid="8" grpId="0" animBg="1"/>
      <p:bldP spid="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9144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Que es la Crianza Respetuosa?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05840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594360" y="1024128"/>
            <a:ext cx="7955280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es un conjunto de trucos para que los ninos obedezcan, sino un cambio de paradigma que situa la relacion entre el adulto y el nino en el centro del desarrollo humano."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2606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2606040" cy="10972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57200" y="2350008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6B9E7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01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 adulto-nino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centro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2240280"/>
            <a:ext cx="2606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10"/>
          <p:cNvSpPr/>
          <p:nvPr/>
        </p:nvSpPr>
        <p:spPr>
          <a:xfrm>
            <a:off x="3246120" y="2240280"/>
            <a:ext cx="2606040" cy="109728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3246120" y="2350008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C97D5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246120" y="30632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Respeto al ritmo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madurativo del nino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2240280"/>
            <a:ext cx="26060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4"/>
          <p:cNvSpPr/>
          <p:nvPr/>
        </p:nvSpPr>
        <p:spPr>
          <a:xfrm>
            <a:off x="6035040" y="2240280"/>
            <a:ext cx="2606040" cy="109728"/>
          </a:xfrm>
          <a:prstGeom prst="rect">
            <a:avLst/>
          </a:prstGeom>
          <a:solidFill>
            <a:srgbClr val="5B7FA6"/>
          </a:solidFill>
          <a:ln w="12700">
            <a:solidFill>
              <a:srgbClr val="5B7FA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6035040" y="2350008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5B7FA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03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6035040" y="30632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Conexion antes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correccion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E8E4DE"/>
          </a:solidFill>
          <a:ln w="12700">
            <a:solidFill>
              <a:srgbClr val="E8E4D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800" dirty="0"/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500"/>
                            </p:stCondLst>
                            <p:childTnLst>
                              <p:par>
                                <p:cTn id="6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9144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Neurociencia del Desarrollo a los 3 Anos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8869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9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actua asi? La biologia lo explica.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61872"/>
          <a:ext cx="8229600" cy="182880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Limbico (Dominante)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Corteza Prefrontal (En Desarrollo)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7F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Emociones basicas y primitivas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Razonamiento logico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Respuesta de lucha o huida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de impulsos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4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i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"Secuestro amigdalino"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Empatia y planificacion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401568"/>
            <a:ext cx="8229600" cy="914400"/>
          </a:xfrm>
          <a:prstGeom prst="rect">
            <a:avLst/>
          </a:prstGeom>
          <a:solidFill>
            <a:srgbClr val="2C3E35"/>
          </a:solidFill>
          <a:ln w="12700">
            <a:solidFill>
              <a:srgbClr val="2C3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457200" y="3401568"/>
            <a:ext cx="91440" cy="91440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685800" y="3447288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rabietas no son manipulacion. Pedir calma racional en ese momento es biologicamente imposible. Las neuronas espejo copian tu modelo: </a:t>
            </a:r>
            <a:r>
              <a:rPr lang="en-US" sz="12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calma ES su aprendizaje.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E8E4DE"/>
          </a:solidFill>
          <a:ln w="12700">
            <a:solidFill>
              <a:srgbClr val="E8E4D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8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9144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 Validacion Emocional: El Pilar Fundamental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731520"/>
          </a:xfrm>
          <a:prstGeom prst="rect">
            <a:avLst/>
          </a:prstGeom>
          <a:solidFill>
            <a:srgbClr val="D6E8DA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109728" cy="731520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5"/>
          <p:cNvSpPr/>
          <p:nvPr/>
        </p:nvSpPr>
        <p:spPr>
          <a:xfrm>
            <a:off x="685800" y="978408"/>
            <a:ext cx="78638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= </a:t>
            </a: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la realidad interna del nino. No es estar de acuerdo con la conducta, es decirle: </a:t>
            </a:r>
            <a:r>
              <a:rPr lang="en-US" sz="1250" b="1" i="1" dirty="0">
                <a:solidFill>
                  <a:srgbClr val="6B9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"Veo lo que sientes y es real para ti."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4114800" cy="411480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Validacion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9"/>
          <p:cNvSpPr/>
          <p:nvPr/>
        </p:nvSpPr>
        <p:spPr>
          <a:xfrm>
            <a:off x="594360" y="224028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"Entiendo que estes enojado,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no se puede pegar."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114800" cy="868680"/>
          </a:xfrm>
          <a:prstGeom prst="rect">
            <a:avLst/>
          </a:prstGeom>
          <a:solidFill>
            <a:srgbClr val="E8E4DE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594360" y="310896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nino siente que sus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emociones son validas.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594360" y="397764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Autoestima saludable 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regulacion emocional.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828800"/>
            <a:ext cx="4114800" cy="411480"/>
          </a:xfrm>
          <a:prstGeom prst="rect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4754880" y="1828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Validacion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224028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7"/>
          <p:cNvSpPr/>
          <p:nvPr/>
        </p:nvSpPr>
        <p:spPr>
          <a:xfrm>
            <a:off x="4892040" y="224028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llores, no es para tanto."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"Vete a tu cuarto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que se te pase."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108960"/>
            <a:ext cx="4114800" cy="868680"/>
          </a:xfrm>
          <a:prstGeom prst="rect">
            <a:avLst/>
          </a:prstGeom>
          <a:solidFill>
            <a:srgbClr val="E8E4DE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892040" y="310896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nino aprende: "mis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emociones estan mal."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54880" y="3977640"/>
            <a:ext cx="411480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Text 21"/>
          <p:cNvSpPr/>
          <p:nvPr/>
        </p:nvSpPr>
        <p:spPr>
          <a:xfrm>
            <a:off x="4892040" y="3977640"/>
            <a:ext cx="3840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autoestima, represion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emocional, desconexion.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E8E4DE"/>
          </a:solidFill>
          <a:ln w="12700">
            <a:solidFill>
              <a:srgbClr val="E8E4D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Text 23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9144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Estrategias para Acompanar en Momentos de Crisis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889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2788920" cy="1234440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411480" y="1078992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411480" y="1078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66420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Time-In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" y="1993392"/>
            <a:ext cx="2606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Dentro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240280"/>
            <a:ext cx="2788920" cy="1508760"/>
          </a:xfrm>
          <a:prstGeom prst="rect">
            <a:avLst/>
          </a:prstGeom>
          <a:solidFill>
            <a:srgbClr val="D6E8DA"/>
          </a:solidFill>
          <a:ln w="12700">
            <a:solidFill>
              <a:srgbClr val="D6E8D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11480" y="2286000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Permanece fisicamente cerca. No des lecciones mientras llora. Ofrece contacto si el nino lo permite. El cerebro bajo estres no puede escuchar.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27832" y="1005840"/>
            <a:ext cx="27889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3227832" y="1005840"/>
            <a:ext cx="2788920" cy="123444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Shape 13"/>
          <p:cNvSpPr/>
          <p:nvPr/>
        </p:nvSpPr>
        <p:spPr>
          <a:xfrm>
            <a:off x="3364992" y="1078992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4"/>
          <p:cNvSpPr/>
          <p:nvPr/>
        </p:nvSpPr>
        <p:spPr>
          <a:xfrm>
            <a:off x="3364992" y="1078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19272" y="166420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Nombrar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19272" y="1993392"/>
            <a:ext cx="2606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Dominar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27832" y="2240280"/>
            <a:ext cx="2788920" cy="1508760"/>
          </a:xfrm>
          <a:prstGeom prst="rect">
            <a:avLst/>
          </a:prstGeom>
          <a:solidFill>
            <a:srgbClr val="F5E0D5"/>
          </a:solidFill>
          <a:ln w="12700">
            <a:solidFill>
              <a:srgbClr val="F5E0D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3364992" y="2286000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vez calmado, ayudalo a relatar: "Estabas muy triste porque se rompio tu torre..." Esto conecta el hemisferio logico con el emocional.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81344" y="1005840"/>
            <a:ext cx="27889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4D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Shape 20"/>
          <p:cNvSpPr/>
          <p:nvPr/>
        </p:nvSpPr>
        <p:spPr>
          <a:xfrm>
            <a:off x="6181344" y="1005840"/>
            <a:ext cx="2788920" cy="1234440"/>
          </a:xfrm>
          <a:prstGeom prst="rect">
            <a:avLst/>
          </a:prstGeom>
          <a:solidFill>
            <a:srgbClr val="5B7FA6"/>
          </a:solidFill>
          <a:ln w="12700">
            <a:solidFill>
              <a:srgbClr val="5B7FA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3" name="Shape 21"/>
          <p:cNvSpPr/>
          <p:nvPr/>
        </p:nvSpPr>
        <p:spPr>
          <a:xfrm>
            <a:off x="6318504" y="1078992"/>
            <a:ext cx="548640" cy="548640"/>
          </a:xfrm>
          <a:prstGeom prst="ellipse">
            <a:avLst/>
          </a:prstGeom>
          <a:solidFill>
            <a:srgbClr val="FFFFF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2"/>
          <p:cNvSpPr/>
          <p:nvPr/>
        </p:nvSpPr>
        <p:spPr>
          <a:xfrm>
            <a:off x="6318504" y="1078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272784" y="1664208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272784" y="1993392"/>
            <a:ext cx="26060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Informativos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81344" y="2240280"/>
            <a:ext cx="2788920" cy="1508760"/>
          </a:xfrm>
          <a:prstGeom prst="rect">
            <a:avLst/>
          </a:prstGeom>
          <a:solidFill>
            <a:srgbClr val="D4E1EE"/>
          </a:solidFill>
          <a:ln w="12700">
            <a:solidFill>
              <a:srgbClr val="D4E1E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6"/>
          <p:cNvSpPr/>
          <p:nvPr/>
        </p:nvSpPr>
        <p:spPr>
          <a:xfrm>
            <a:off x="6318504" y="2286000"/>
            <a:ext cx="2514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"No corras!", di: "Camina lento para que tus pies esten seguros." Los limites buscan cooperacion, no obediencia por miedo.</a:t>
            </a:r>
            <a:endParaRPr lang="en-US" sz="11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74320" y="3858768"/>
          <a:ext cx="8595360" cy="960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0" name="Shape 27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E8E4DE"/>
          </a:solidFill>
          <a:ln w="12700">
            <a:solidFill>
              <a:srgbClr val="E8E4D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8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64008"/>
            <a:ext cx="91440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914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C3E3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Autonomia y Limites: El Equilibrio Necesario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los 3 anos el nino vive su "primera adolescencia": necesita sentir poder sobre su vida dentro de un marco seguro establecido por el adulto.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1920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6B9E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1920240" cy="109728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Shape 6"/>
          <p:cNvSpPr/>
          <p:nvPr/>
        </p:nvSpPr>
        <p:spPr>
          <a:xfrm>
            <a:off x="1005840" y="1783080"/>
            <a:ext cx="640080" cy="640080"/>
          </a:xfrm>
          <a:prstGeom prst="ellipse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38912" y="2487168"/>
            <a:ext cx="177393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la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autonomia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04288" y="23774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9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542032" y="1600200"/>
            <a:ext cx="1920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C97D5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2542032" y="1600200"/>
            <a:ext cx="1920240" cy="109728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Shape 12"/>
          <p:cNvSpPr/>
          <p:nvPr/>
        </p:nvSpPr>
        <p:spPr>
          <a:xfrm>
            <a:off x="3182112" y="1783080"/>
            <a:ext cx="640080" cy="640080"/>
          </a:xfrm>
          <a:prstGeom prst="ellipse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3182112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615184" y="2487168"/>
            <a:ext cx="177393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Ofrecer opciones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limitadas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"Azul o roja?"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480560" y="23774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9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718304" y="1600200"/>
            <a:ext cx="1920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5B7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9" name="Shape 17"/>
          <p:cNvSpPr/>
          <p:nvPr/>
        </p:nvSpPr>
        <p:spPr>
          <a:xfrm>
            <a:off x="4718304" y="1600200"/>
            <a:ext cx="1920240" cy="109728"/>
          </a:xfrm>
          <a:prstGeom prst="rect">
            <a:avLst/>
          </a:prstGeom>
          <a:solidFill>
            <a:srgbClr val="5B7FA6"/>
          </a:solidFill>
          <a:ln w="12700">
            <a:solidFill>
              <a:srgbClr val="5B7FA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Shape 18"/>
          <p:cNvSpPr/>
          <p:nvPr/>
        </p:nvSpPr>
        <p:spPr>
          <a:xfrm>
            <a:off x="5358384" y="1783080"/>
            <a:ext cx="640080" cy="640080"/>
          </a:xfrm>
          <a:prstGeom prst="ellipse">
            <a:avLst/>
          </a:prstGeom>
          <a:solidFill>
            <a:srgbClr val="5B7FA6"/>
          </a:solidFill>
          <a:ln w="12700">
            <a:solidFill>
              <a:srgbClr val="5B7FA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5358384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791456" y="2487168"/>
            <a:ext cx="177393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nino decide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siente poder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su vida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56832" y="237744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B9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894576" y="1600200"/>
            <a:ext cx="1920240" cy="2148840"/>
          </a:xfrm>
          <a:prstGeom prst="rect">
            <a:avLst/>
          </a:prstGeom>
          <a:solidFill>
            <a:srgbClr val="FFFFFF"/>
          </a:solidFill>
          <a:ln w="25400">
            <a:solidFill>
              <a:srgbClr val="2C3E3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3"/>
          <p:cNvSpPr/>
          <p:nvPr/>
        </p:nvSpPr>
        <p:spPr>
          <a:xfrm>
            <a:off x="6894576" y="1600200"/>
            <a:ext cx="1920240" cy="109728"/>
          </a:xfrm>
          <a:prstGeom prst="rect">
            <a:avLst/>
          </a:prstGeom>
          <a:solidFill>
            <a:srgbClr val="2C3E35"/>
          </a:solidFill>
          <a:ln w="12700">
            <a:solidFill>
              <a:srgbClr val="2C3E3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Shape 24"/>
          <p:cNvSpPr/>
          <p:nvPr/>
        </p:nvSpPr>
        <p:spPr>
          <a:xfrm>
            <a:off x="7534656" y="1783080"/>
            <a:ext cx="640080" cy="640080"/>
          </a:xfrm>
          <a:prstGeom prst="ellipse">
            <a:avLst/>
          </a:prstGeom>
          <a:solidFill>
            <a:srgbClr val="2C3E35"/>
          </a:solidFill>
          <a:ln w="12700">
            <a:solidFill>
              <a:srgbClr val="2C3E3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7" name="Text 25"/>
          <p:cNvSpPr/>
          <p:nvPr/>
        </p:nvSpPr>
        <p:spPr>
          <a:xfrm>
            <a:off x="7534656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967728" y="2487168"/>
            <a:ext cx="1773936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adulto mantiene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limite: el nino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siente seguro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57200" y="3931920"/>
            <a:ext cx="8229600" cy="868680"/>
          </a:xfrm>
          <a:prstGeom prst="rect">
            <a:avLst/>
          </a:prstGeom>
          <a:solidFill>
            <a:srgbClr val="5B7FA6"/>
          </a:solidFill>
          <a:ln w="12700">
            <a:solidFill>
              <a:srgbClr val="5B7FA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0" name="Shape 28"/>
          <p:cNvSpPr/>
          <p:nvPr/>
        </p:nvSpPr>
        <p:spPr>
          <a:xfrm>
            <a:off x="457200" y="3931920"/>
            <a:ext cx="109728" cy="86868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9"/>
          <p:cNvSpPr/>
          <p:nvPr/>
        </p:nvSpPr>
        <p:spPr>
          <a:xfrm>
            <a:off x="685800" y="3950208"/>
            <a:ext cx="7863840" cy="832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 co-reguladores de sus emociones hasta que su cerebro pueda hacerlo por si mismo. La crianza respetuosa sienta las bases de la inteligencia emocional para toda la vida.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E8E4DE"/>
          </a:solidFill>
          <a:ln w="12700">
            <a:solidFill>
              <a:srgbClr val="E8E4DE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3" name="Text 31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2286000"/>
            <a:ext cx="4114800" cy="4114800"/>
          </a:xfrm>
          <a:prstGeom prst="ellipse">
            <a:avLst/>
          </a:prstGeom>
          <a:solidFill>
            <a:srgbClr val="6B9E78">
              <a:alpha val="20000"/>
            </a:srgbClr>
          </a:solidFill>
          <a:ln w="12700">
            <a:solidFill>
              <a:srgbClr val="6B9E7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C97D5B">
              <a:alpha val="18000"/>
            </a:srgbClr>
          </a:solidFill>
          <a:ln w="12700">
            <a:solidFill>
              <a:srgbClr val="C97D5B">
                <a:alpha val="18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Shape 2"/>
          <p:cNvSpPr/>
          <p:nvPr/>
        </p:nvSpPr>
        <p:spPr>
          <a:xfrm>
            <a:off x="3200400" y="320040"/>
            <a:ext cx="2743200" cy="320040"/>
          </a:xfrm>
          <a:prstGeom prst="rect">
            <a:avLst/>
          </a:prstGeom>
          <a:solidFill>
            <a:srgbClr val="C97D5B"/>
          </a:solidFill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3200400" y="320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7772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Documento Completo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097280" y="1554480"/>
            <a:ext cx="6949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AA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acceder al documento completo con todos los fundamentos teoricos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AA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estrategias de Crianza Respetuosa, usa el siguiente enlace:</a:t>
            </a:r>
            <a:endParaRPr lang="en-US" sz="1250" dirty="0"/>
          </a:p>
        </p:txBody>
      </p:sp>
      <p:sp>
        <p:nvSpPr>
          <p:cNvPr id="8" name="Shape 6">
            <a:hlinkClick r:id="rId3" tooltip="Ver documento en OneDrive"/>
          </p:cNvPr>
          <p:cNvSpPr/>
          <p:nvPr/>
        </p:nvSpPr>
        <p:spPr>
          <a:xfrm>
            <a:off x="2560320" y="2286000"/>
            <a:ext cx="4023360" cy="594360"/>
          </a:xfrm>
          <a:prstGeom prst="rect">
            <a:avLst/>
          </a:prstGeom>
          <a:solidFill>
            <a:srgbClr val="6B9E78"/>
          </a:solidFill>
          <a:ln w="12700">
            <a:solidFill>
              <a:srgbClr val="6B9E7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Text 7">
            <a:hlinkClick r:id="rId3" tooltip="Ver documento en OneDrive"/>
          </p:cNvPr>
          <p:cNvSpPr/>
          <p:nvPr/>
        </p:nvSpPr>
        <p:spPr>
          <a:xfrm>
            <a:off x="2560320" y="228600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tooltip="Ver documento en OneDriv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 documento en OneDrive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86000" y="29718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6688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(Reemplaza este enlace con tu URL real de OneDrive)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828800" y="3337560"/>
            <a:ext cx="5486400" cy="0"/>
          </a:xfrm>
          <a:prstGeom prst="line">
            <a:avLst/>
          </a:prstGeom>
          <a:noFill/>
          <a:ln w="12700">
            <a:solidFill>
              <a:srgbClr val="C97D5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914400" y="3493008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A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Estudiante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A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del Curso  |  Institucion  |  2025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1605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C9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"Criar con respeto es la inversion mas rentable que existe: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i="1" dirty="0">
                <a:solidFill>
                  <a:srgbClr val="C9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mide en obediencia, sino en amor propio."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2821"/>
          </a:solidFill>
          <a:ln w="12700">
            <a:solidFill>
              <a:srgbClr val="1A2821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3"/>
          <p:cNvSpPr/>
          <p:nvPr/>
        </p:nvSpPr>
        <p:spPr>
          <a:xfrm>
            <a:off x="182880" y="4892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466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Crianza Respetuosa · Primera Infancia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046720" y="4892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4466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618</Words>
  <Application>Microsoft Office PowerPoint</Application>
  <PresentationFormat>Presentación en pantalla (16:9)</PresentationFormat>
  <Paragraphs>110</Paragraphs>
  <Slides>7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Crianza Respetuosa en la Primera Infancia</dc:title>
  <dc:subject>PptxGenJS Presentation</dc:subject>
  <dc:creator>Estudiante</dc:creator>
  <cp:lastModifiedBy>Juan CEBALLOS</cp:lastModifiedBy>
  <cp:revision>20</cp:revision>
  <dcterms:created xsi:type="dcterms:W3CDTF">2026-03-30T15:59:38Z</dcterms:created>
  <dcterms:modified xsi:type="dcterms:W3CDTF">2026-03-30T18:55:59Z</dcterms:modified>
</cp:coreProperties>
</file>