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1FD3D4-A20D-8B91-F9FB-50796DA86DAC}" v="47" dt="2026-03-30T16:15:31.809"/>
    <p1510:client id="{B0FED60A-2FA6-375F-A788-E85C79561FF9}" v="4" dt="2026-03-30T16:19:23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108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Antonio Ceballos Usuga" userId="S::juan.ceballos@pi.edu.co::a364a789-6aca-48df-bc72-f486f983ff4f" providerId="AD" clId="Web-{B0FED60A-2FA6-375F-A788-E85C79561FF9}"/>
    <pc:docChg chg="modSld">
      <pc:chgData name="Juan Antonio Ceballos Usuga" userId="S::juan.ceballos@pi.edu.co::a364a789-6aca-48df-bc72-f486f983ff4f" providerId="AD" clId="Web-{B0FED60A-2FA6-375F-A788-E85C79561FF9}" dt="2026-03-30T16:19:23.222" v="2" actId="20577"/>
      <pc:docMkLst>
        <pc:docMk/>
      </pc:docMkLst>
      <pc:sldChg chg="modSp">
        <pc:chgData name="Juan Antonio Ceballos Usuga" userId="S::juan.ceballos@pi.edu.co::a364a789-6aca-48df-bc72-f486f983ff4f" providerId="AD" clId="Web-{B0FED60A-2FA6-375F-A788-E85C79561FF9}" dt="2026-03-30T16:19:23.222" v="2" actId="20577"/>
        <pc:sldMkLst>
          <pc:docMk/>
          <pc:sldMk cId="0" sldId="256"/>
        </pc:sldMkLst>
        <pc:spChg chg="mod">
          <ac:chgData name="Juan Antonio Ceballos Usuga" userId="S::juan.ceballos@pi.edu.co::a364a789-6aca-48df-bc72-f486f983ff4f" providerId="AD" clId="Web-{B0FED60A-2FA6-375F-A788-E85C79561FF9}" dt="2026-03-30T16:19:23.222" v="2" actId="20577"/>
          <ac:spMkLst>
            <pc:docMk/>
            <pc:sldMk cId="0" sldId="256"/>
            <ac:spMk id="9" creationId="{00000000-0000-0000-0000-000000000000}"/>
          </ac:spMkLst>
        </pc:spChg>
      </pc:sldChg>
    </pc:docChg>
  </pc:docChgLst>
  <pc:docChgLst>
    <pc:chgData name="Juan Antonio Ceballos Usuga" userId="S::juan.ceballos@pi.edu.co::a364a789-6aca-48df-bc72-f486f983ff4f" providerId="AD" clId="Web-{1A1FD3D4-A20D-8B91-F9FB-50796DA86DAC}"/>
    <pc:docChg chg="modSld">
      <pc:chgData name="Juan Antonio Ceballos Usuga" userId="S::juan.ceballos@pi.edu.co::a364a789-6aca-48df-bc72-f486f983ff4f" providerId="AD" clId="Web-{1A1FD3D4-A20D-8B91-F9FB-50796DA86DAC}" dt="2026-03-30T16:15:27.433" v="44" actId="20577"/>
      <pc:docMkLst>
        <pc:docMk/>
      </pc:docMkLst>
      <pc:sldChg chg="modSp">
        <pc:chgData name="Juan Antonio Ceballos Usuga" userId="S::juan.ceballos@pi.edu.co::a364a789-6aca-48df-bc72-f486f983ff4f" providerId="AD" clId="Web-{1A1FD3D4-A20D-8B91-F9FB-50796DA86DAC}" dt="2026-03-30T16:15:27.433" v="44" actId="20577"/>
        <pc:sldMkLst>
          <pc:docMk/>
          <pc:sldMk cId="0" sldId="256"/>
        </pc:sldMkLst>
        <pc:spChg chg="mod">
          <ac:chgData name="Juan Antonio Ceballos Usuga" userId="S::juan.ceballos@pi.edu.co::a364a789-6aca-48df-bc72-f486f983ff4f" providerId="AD" clId="Web-{1A1FD3D4-A20D-8B91-F9FB-50796DA86DAC}" dt="2026-03-30T16:15:27.433" v="44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Juan Antonio Ceballos Usuga" userId="S::juan.ceballos@pi.edu.co::a364a789-6aca-48df-bc72-f486f983ff4f" providerId="AD" clId="Web-{1A1FD3D4-A20D-8B91-F9FB-50796DA86DAC}" dt="2026-03-30T16:10:53.223" v="43" actId="20577"/>
          <ac:spMkLst>
            <pc:docMk/>
            <pc:sldMk cId="0" sldId="256"/>
            <ac:spMk id="11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888888"/>
                </a:solidFill>
                <a:latin typeface="Arial"/>
              </a:defRPr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</a:rPr>
              <a:t>Efectividad percibida: Acompanamiento vs. Aislamiento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Efectividad (%)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A71-48D4-BB64-D74FC8D2DC24}"/>
              </c:ext>
            </c:extLst>
          </c:dPt>
          <c:dPt>
            <c:idx val="1"/>
            <c:invertIfNegative val="0"/>
            <c:bubble3D val="0"/>
            <c:spPr>
              <a:solidFill>
                <a:srgbClr val="6B9E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A71-48D4-BB64-D74FC8D2DC2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E3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Time-Out (Tiempo Fuera)</c:v>
                </c:pt>
                <c:pt idx="1">
                  <c:v>Time-In (Acompanamiento)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A71-48D4-BB64-D74FC8D2DC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07F91-E64D-4646-9EEF-09B568070F09}" type="datetimeFigureOut">
              <a:t>1/04/2026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E24B3-206D-4CEC-9C05-171CD157F22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22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nedrive.live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1097280"/>
            <a:ext cx="5029200" cy="5029200"/>
          </a:xfrm>
          <a:prstGeom prst="ellipse">
            <a:avLst/>
          </a:prstGeom>
          <a:solidFill>
            <a:srgbClr val="6B9E78">
              <a:alpha val="25000"/>
            </a:srgbClr>
          </a:solidFill>
          <a:ln w="12700">
            <a:solidFill>
              <a:srgbClr val="6B9E7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943600" y="274320"/>
            <a:ext cx="3200400" cy="3200400"/>
          </a:xfrm>
          <a:prstGeom prst="ellipse">
            <a:avLst/>
          </a:prstGeom>
          <a:solidFill>
            <a:srgbClr val="C97D5B">
              <a:alpha val="20000"/>
            </a:srgbClr>
          </a:solidFill>
          <a:ln w="12700">
            <a:solidFill>
              <a:srgbClr val="C97D5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9728" cy="256032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Crianza Respetuosa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85800" y="1005840"/>
            <a:ext cx="2011680" cy="32004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EDUCACION INICIAL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6B9E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la Primera Infancia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2907792"/>
            <a:ext cx="50292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Fundamentos, neurociencia y estrategias</a:t>
            </a:r>
            <a:endParaRPr lang="en-US" sz="1250" dirty="0"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5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para acompañar a los 3 años</a:t>
            </a:r>
            <a:endParaRPr lang="en-US" sz="1250" dirty="0">
              <a:ea typeface="Calibri"/>
              <a:cs typeface="Calibri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3657600" cy="0"/>
          </a:xfrm>
          <a:prstGeom prst="line">
            <a:avLst/>
          </a:prstGeom>
          <a:noFill/>
          <a:ln w="1905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Ginna Paola García Gómez</a:t>
            </a:r>
            <a:r>
              <a:rPr lang="en-US" sz="100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   | TIC 1939 UVRE1 1TI – 2026-1T</a:t>
            </a:r>
          </a:p>
        </p:txBody>
      </p:sp>
      <p:sp>
        <p:nvSpPr>
          <p:cNvPr id="12" name="Shape 10"/>
          <p:cNvSpPr/>
          <p:nvPr/>
        </p:nvSpPr>
        <p:spPr>
          <a:xfrm>
            <a:off x="137160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393192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649224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905256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137160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393192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649224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905256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137160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393192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649224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905256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649224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137160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905256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393192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6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82296"/>
            <a:ext cx="8341688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/>
            <a:endParaRPr lang="es-CO" dirty="0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 es la crianza </a:t>
            </a:r>
            <a:r>
              <a:rPr lang="en-US" sz="30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respetuosa</a:t>
            </a:r>
            <a:r>
              <a:rPr lang="en-US" sz="30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0584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94360" y="1024128"/>
            <a:ext cx="79552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es un conjunto de trucos para que los ninos obedezcan, sino un cambio de paradigma que situa la relacion entre el adulto y el nino en el centro del desarrollo humano."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06040" cy="10972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23500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6B9E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 </a:t>
            </a:r>
            <a:r>
              <a:rPr lang="en-US" sz="13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adulto-niño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centro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224028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3246120" y="2240280"/>
            <a:ext cx="2606040" cy="109728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246120" y="23500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C97D5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246120" y="30632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Respeto al ritmo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madurativo del niño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224028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6035040" y="2240280"/>
            <a:ext cx="2606040" cy="109728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035040" y="23500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5B7FA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035040" y="30632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 antes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corrección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8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5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</a:t>
            </a:r>
            <a:r>
              <a:rPr lang="en-US" sz="28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neurociencia</a:t>
            </a: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del </a:t>
            </a:r>
            <a:r>
              <a:rPr lang="en-US" sz="28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desarrollo</a:t>
            </a: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los 3 años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8869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que actua asi? La </a:t>
            </a:r>
            <a:r>
              <a:rPr lang="en-US" sz="1200" i="1" dirty="0" err="1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biología</a:t>
            </a:r>
            <a:r>
              <a:rPr lang="en-US" sz="120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explica.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881095"/>
              </p:ext>
            </p:extLst>
          </p:nvPr>
        </p:nvGraphicFramePr>
        <p:xfrm>
          <a:off x="457200" y="1261872"/>
          <a:ext cx="8229600" cy="18288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</a:t>
                      </a:r>
                      <a:r>
                        <a:rPr lang="en-US" sz="13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limbico</a:t>
                      </a: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(Dominante)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Corteza</a:t>
                      </a: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prefrontal (En </a:t>
                      </a:r>
                      <a:r>
                        <a:rPr lang="en-US" sz="13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</a:t>
                      </a: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7F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Emociones basicas y primitivas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Razonamiento lógico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 de lucha o huida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de impulsos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i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"Secuestro amigdalino"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Empatia y planificación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401568"/>
            <a:ext cx="8229600" cy="914400"/>
          </a:xfrm>
          <a:prstGeom prst="rect">
            <a:avLst/>
          </a:prstGeom>
          <a:solidFill>
            <a:srgbClr val="2C3E35"/>
          </a:solidFill>
          <a:ln w="12700">
            <a:solidFill>
              <a:srgbClr val="2C3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457200" y="3401568"/>
            <a:ext cx="91440" cy="91440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685800" y="344728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rabietas no son manipulacion. Pedir calma racional en ese momento es biológicamente imposible. Las neuronas espejo copian tu modelo: </a:t>
            </a: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calma ES su aprendizaje.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</a:t>
            </a:r>
            <a:r>
              <a:rPr lang="en-US" sz="24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Validación</a:t>
            </a:r>
            <a:r>
              <a:rPr lang="en-US" sz="24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Emocional: El Pilar Fundamental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solidFill>
            <a:srgbClr val="D6E8DA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09728" cy="73152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978408"/>
            <a:ext cx="78638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= </a:t>
            </a: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realidad interna del niño. No es estar de acuerdo con la conducta, es decirle: </a:t>
            </a:r>
            <a:r>
              <a:rPr lang="en-US" sz="1250" b="1" i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"Veo lo que sientes y es real para ti."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4114800" cy="41148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6314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94360" y="22402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"Entiendo que estes enojado,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no se puede pegar."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114800" cy="868680"/>
          </a:xfrm>
          <a:prstGeom prst="rect">
            <a:avLst/>
          </a:prstGeom>
          <a:solidFill>
            <a:srgbClr val="E8E4DE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3" name="Text 11"/>
          <p:cNvSpPr/>
          <p:nvPr/>
        </p:nvSpPr>
        <p:spPr>
          <a:xfrm>
            <a:off x="594360" y="31089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nino siente que sus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emociones son </a:t>
            </a:r>
            <a:r>
              <a:rPr lang="en-US" sz="11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válidas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94360" y="39776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Autoestima saludable 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emocional.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828800"/>
            <a:ext cx="4114800" cy="41148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4754880" y="1828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224028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4892040" y="22402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llores, no es para tanto."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"Vete a tu cuarto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que se te pase."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4114800" cy="868680"/>
          </a:xfrm>
          <a:prstGeom prst="rect">
            <a:avLst/>
          </a:prstGeom>
          <a:solidFill>
            <a:srgbClr val="E8E4DE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1089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niño aprende: "mis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emociones estan mal."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97764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892040" y="39776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autoestima, </a:t>
            </a:r>
            <a:r>
              <a:rPr lang="en-US" sz="11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represión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emocional, </a:t>
            </a:r>
            <a:r>
              <a:rPr lang="en-US" sz="11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desconexión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0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/>
            <a:endParaRPr lang="es-CO" dirty="0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Estrategias para </a:t>
            </a:r>
            <a:r>
              <a:rPr lang="en-US" sz="22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acompanar</a:t>
            </a:r>
            <a:r>
              <a:rPr lang="en-US" sz="22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2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</a:t>
            </a:r>
            <a:r>
              <a:rPr lang="en-US" sz="22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2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momentos</a:t>
            </a:r>
            <a:r>
              <a:rPr lang="en-US" sz="22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de crisis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88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2788920" cy="123444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411480" y="1078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6642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993392"/>
            <a:ext cx="2606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Dentro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2788920" cy="1508760"/>
          </a:xfrm>
          <a:prstGeom prst="rect">
            <a:avLst/>
          </a:prstGeom>
          <a:solidFill>
            <a:srgbClr val="D6E8DA"/>
          </a:solidFill>
          <a:ln w="12700">
            <a:solidFill>
              <a:srgbClr val="D6E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286000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Permanece fisicamente cerca. No des lecciones mientras llora. Ofrece contacto si el nino lo permite. El cerebro bajo estres no puede escuchar.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27832" y="1005840"/>
            <a:ext cx="2788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227832" y="1005840"/>
            <a:ext cx="2788920" cy="123444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5" name="Shape 13"/>
          <p:cNvSpPr/>
          <p:nvPr/>
        </p:nvSpPr>
        <p:spPr>
          <a:xfrm>
            <a:off x="3364992" y="1078992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3364992" y="1078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19272" y="16642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19272" y="1993392"/>
            <a:ext cx="2606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Dominar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7832" y="2240280"/>
            <a:ext cx="2788920" cy="1508760"/>
          </a:xfrm>
          <a:prstGeom prst="rect">
            <a:avLst/>
          </a:prstGeom>
          <a:solidFill>
            <a:srgbClr val="F5E0D5"/>
          </a:solidFill>
          <a:ln w="12700">
            <a:solidFill>
              <a:srgbClr val="F5E0D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3364992" y="2286000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 calmado, ayudalo a relatar: "Estabas muy triste porque se rompio tu torre..." Esto conecta el hemisferio logico con el emocional.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81344" y="1005840"/>
            <a:ext cx="2788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6181344" y="1005840"/>
            <a:ext cx="2788920" cy="1234440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23" name="Shape 21"/>
          <p:cNvSpPr/>
          <p:nvPr/>
        </p:nvSpPr>
        <p:spPr>
          <a:xfrm>
            <a:off x="6318504" y="1078992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6318504" y="1078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72784" y="16642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272784" y="1993392"/>
            <a:ext cx="2606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Informativos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81344" y="2240280"/>
            <a:ext cx="2788920" cy="1508760"/>
          </a:xfrm>
          <a:prstGeom prst="rect">
            <a:avLst/>
          </a:prstGeom>
          <a:solidFill>
            <a:srgbClr val="D4E1EE"/>
          </a:solidFill>
          <a:ln w="12700">
            <a:solidFill>
              <a:srgbClr val="D4E1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6318504" y="2286000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"No corras!", di: "Camina lento para que tus pies esten seguros." Los limites buscan cooperacion, no obediencia por miedo.</a:t>
            </a:r>
            <a:endParaRPr lang="en-US" sz="11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74320" y="3858768"/>
          <a:ext cx="8595360" cy="960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" name="Shape 27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8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1" grpId="0" animBg="1"/>
      <p:bldP spid="14" grpId="0" animBg="1"/>
      <p:bldP spid="19" grpId="0" animBg="1"/>
      <p:bldP spid="22" grpId="0" animBg="1"/>
      <p:bldP spid="27" grpId="0" animBg="1"/>
      <p:bldGraphic spid="29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Autonomia y </a:t>
            </a:r>
            <a:r>
              <a:rPr lang="en-US" sz="28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limites</a:t>
            </a: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: </a:t>
            </a:r>
            <a:r>
              <a:rPr lang="en-US" sz="28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</a:t>
            </a: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8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equilibrio</a:t>
            </a: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800" dirty="0" err="1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necesario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 3 años </a:t>
            </a:r>
            <a:r>
              <a:rPr lang="en-US" sz="12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niño vive su "primera adolescencia": necesita sentir poder sobre su vida dentro de un marco seguro establecido por el adulto.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6B9E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1920240" cy="10972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005840" y="1783080"/>
            <a:ext cx="640080" cy="640080"/>
          </a:xfrm>
          <a:prstGeom prst="ellipse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38912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la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autonomia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04288" y="23774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542032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C97D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2542032" y="1600200"/>
            <a:ext cx="1920240" cy="109728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182112" y="1783080"/>
            <a:ext cx="640080" cy="640080"/>
          </a:xfrm>
          <a:prstGeom prst="ellipse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3182112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615184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Ofrecer opciones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limitadas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"Azul o roja?"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80560" y="23774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718304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5B7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4718304" y="1600200"/>
            <a:ext cx="1920240" cy="109728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5358384" y="1783080"/>
            <a:ext cx="640080" cy="640080"/>
          </a:xfrm>
          <a:prstGeom prst="ellipse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358384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791456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niño decide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siente poder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su vida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56832" y="23774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894576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C3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6894576" y="1600200"/>
            <a:ext cx="1920240" cy="109728"/>
          </a:xfrm>
          <a:prstGeom prst="rect">
            <a:avLst/>
          </a:prstGeom>
          <a:solidFill>
            <a:srgbClr val="2C3E35"/>
          </a:solidFill>
          <a:ln w="12700">
            <a:solidFill>
              <a:srgbClr val="2C3E3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7534656" y="1783080"/>
            <a:ext cx="640080" cy="640080"/>
          </a:xfrm>
          <a:prstGeom prst="ellipse">
            <a:avLst/>
          </a:prstGeom>
          <a:solidFill>
            <a:srgbClr val="2C3E35"/>
          </a:solidFill>
          <a:ln w="12700">
            <a:solidFill>
              <a:srgbClr val="2C3E3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7534656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67728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adulto mantiene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limite: </a:t>
            </a:r>
            <a:r>
              <a:rPr lang="en-US" sz="11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niño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siente seguro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3931920"/>
            <a:ext cx="8229600" cy="868680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457200" y="3931920"/>
            <a:ext cx="109728" cy="86868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85800" y="3950208"/>
            <a:ext cx="78638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co-reguladores de sus emociones hasta que su cerebro pueda hacerlo por si mismo. La crianza respetuosa sienta las bases de la inteligencia emocional para toda la vida.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2" grpId="0" animBg="1"/>
      <p:bldP spid="1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286000"/>
            <a:ext cx="4114800" cy="4114800"/>
          </a:xfrm>
          <a:prstGeom prst="ellipse">
            <a:avLst/>
          </a:prstGeom>
          <a:solidFill>
            <a:srgbClr val="6B9E78">
              <a:alpha val="20000"/>
            </a:srgbClr>
          </a:solidFill>
          <a:ln w="12700">
            <a:solidFill>
              <a:srgbClr val="6B9E7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C97D5B">
              <a:alpha val="18000"/>
            </a:srgbClr>
          </a:solidFill>
          <a:ln w="12700">
            <a:solidFill>
              <a:srgbClr val="C97D5B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3200400" y="320040"/>
            <a:ext cx="2743200" cy="32004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2004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Documento Completo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97280" y="1554480"/>
            <a:ext cx="6949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acceder al documento completo con todos los fundamentos teoricos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estrategias de Crianza Respetuosa, usa el siguiente enlace:</a:t>
            </a:r>
            <a:endParaRPr lang="en-US" sz="1250" dirty="0"/>
          </a:p>
        </p:txBody>
      </p:sp>
      <p:sp>
        <p:nvSpPr>
          <p:cNvPr id="8" name="Shape 6">
            <a:hlinkClick r:id="rId3" tooltip="Ver documento en OneDrive"/>
          </p:cNvPr>
          <p:cNvSpPr/>
          <p:nvPr/>
        </p:nvSpPr>
        <p:spPr>
          <a:xfrm>
            <a:off x="2560320" y="2286000"/>
            <a:ext cx="4023360" cy="59436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>
            <a:hlinkClick r:id="rId3" tooltip="Ver documento en OneDrive"/>
          </p:cNvPr>
          <p:cNvSpPr/>
          <p:nvPr/>
        </p:nvSpPr>
        <p:spPr>
          <a:xfrm>
            <a:off x="2560320" y="22860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tooltip="Ver documento en OneDriv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documento en OneDrive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828800" y="3337560"/>
            <a:ext cx="5486400" cy="0"/>
          </a:xfrm>
          <a:prstGeom prst="line">
            <a:avLst/>
          </a:prstGeom>
          <a:noFill/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914400" y="3493008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Ginna Paola García Gómez</a:t>
            </a:r>
            <a:endParaRPr lang="en-US" sz="1100" dirty="0"/>
          </a:p>
          <a:p>
            <a:pPr algn="ctr"/>
            <a:r>
              <a:rPr lang="en-US" sz="110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00" dirty="0">
                <a:solidFill>
                  <a:srgbClr val="AABFB0"/>
                </a:solidFill>
                <a:ea typeface="Calibri"/>
                <a:cs typeface="Calibri"/>
              </a:rPr>
              <a:t> TIC 1939 UVRE1 1TI – 2026-1T</a:t>
            </a:r>
            <a:r>
              <a:rPr lang="en-US" sz="110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Politécnico internacional  | 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160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con respeto es la </a:t>
            </a:r>
            <a:r>
              <a:rPr lang="en-US" sz="1250" i="1" dirty="0" err="1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</a:t>
            </a:r>
            <a:r>
              <a:rPr lang="en-US" sz="125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mas rentable que existe: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mide en obediencia, sino en amor propio."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2821"/>
          </a:solidFill>
          <a:ln w="12700">
            <a:solidFill>
              <a:srgbClr val="1A282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66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466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614</Words>
  <Application>Microsoft Office PowerPoint</Application>
  <PresentationFormat>Presentación en pantalla (16:9)</PresentationFormat>
  <Paragraphs>109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Crianza Respetuosa en la Primera Infancia</dc:title>
  <dc:subject>PptxGenJS Presentation</dc:subject>
  <dc:creator>Estudiante</dc:creator>
  <cp:lastModifiedBy>Juan CEBALLOS</cp:lastModifiedBy>
  <cp:revision>22</cp:revision>
  <dcterms:created xsi:type="dcterms:W3CDTF">2026-03-30T15:59:38Z</dcterms:created>
  <dcterms:modified xsi:type="dcterms:W3CDTF">2026-04-02T03:24:23Z</dcterms:modified>
</cp:coreProperties>
</file>