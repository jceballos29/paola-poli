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FD3D4-A20D-8B91-F9FB-50796DA86DAC}" v="47" dt="2026-03-30T16:15:31.809"/>
    <p1510:client id="{B0FED60A-2FA6-375F-A788-E85C79561FF9}" v="4" dt="2026-03-30T16:19:23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Antonio Ceballos Usuga" userId="S::juan.ceballos@pi.edu.co::a364a789-6aca-48df-bc72-f486f983ff4f" providerId="AD" clId="Web-{B0FED60A-2FA6-375F-A788-E85C79561FF9}"/>
    <pc:docChg chg="modSld">
      <pc:chgData name="Juan Antonio Ceballos Usuga" userId="S::juan.ceballos@pi.edu.co::a364a789-6aca-48df-bc72-f486f983ff4f" providerId="AD" clId="Web-{B0FED60A-2FA6-375F-A788-E85C79561FF9}" dt="2026-03-30T16:19:23.222" v="2" actId="20577"/>
      <pc:docMkLst>
        <pc:docMk/>
      </pc:docMkLst>
      <pc:sldChg chg="modSp">
        <pc:chgData name="Juan Antonio Ceballos Usuga" userId="S::juan.ceballos@pi.edu.co::a364a789-6aca-48df-bc72-f486f983ff4f" providerId="AD" clId="Web-{B0FED60A-2FA6-375F-A788-E85C79561FF9}" dt="2026-03-30T16:19:23.222" v="2" actId="20577"/>
        <pc:sldMkLst>
          <pc:docMk/>
          <pc:sldMk cId="0" sldId="256"/>
        </pc:sldMkLst>
        <pc:spChg chg="mod">
          <ac:chgData name="Juan Antonio Ceballos Usuga" userId="S::juan.ceballos@pi.edu.co::a364a789-6aca-48df-bc72-f486f983ff4f" providerId="AD" clId="Web-{B0FED60A-2FA6-375F-A788-E85C79561FF9}" dt="2026-03-30T16:19:23.222" v="2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  <pc:docChgLst>
    <pc:chgData name="Juan Antonio Ceballos Usuga" userId="S::juan.ceballos@pi.edu.co::a364a789-6aca-48df-bc72-f486f983ff4f" providerId="AD" clId="Web-{1A1FD3D4-A20D-8B91-F9FB-50796DA86DAC}"/>
    <pc:docChg chg="modSld">
      <pc:chgData name="Juan Antonio Ceballos Usuga" userId="S::juan.ceballos@pi.edu.co::a364a789-6aca-48df-bc72-f486f983ff4f" providerId="AD" clId="Web-{1A1FD3D4-A20D-8B91-F9FB-50796DA86DAC}" dt="2026-03-30T16:15:27.433" v="44" actId="20577"/>
      <pc:docMkLst>
        <pc:docMk/>
      </pc:docMkLst>
      <pc:sldChg chg="modSp">
        <pc:chgData name="Juan Antonio Ceballos Usuga" userId="S::juan.ceballos@pi.edu.co::a364a789-6aca-48df-bc72-f486f983ff4f" providerId="AD" clId="Web-{1A1FD3D4-A20D-8B91-F9FB-50796DA86DAC}" dt="2026-03-30T16:15:27.433" v="44" actId="20577"/>
        <pc:sldMkLst>
          <pc:docMk/>
          <pc:sldMk cId="0" sldId="256"/>
        </pc:sldMkLst>
        <pc:spChg chg="mod">
          <ac:chgData name="Juan Antonio Ceballos Usuga" userId="S::juan.ceballos@pi.edu.co::a364a789-6aca-48df-bc72-f486f983ff4f" providerId="AD" clId="Web-{1A1FD3D4-A20D-8B91-F9FB-50796DA86DAC}" dt="2026-03-30T16:15:27.433" v="44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Juan Antonio Ceballos Usuga" userId="S::juan.ceballos@pi.edu.co::a364a789-6aca-48df-bc72-f486f983ff4f" providerId="AD" clId="Web-{1A1FD3D4-A20D-8B91-F9FB-50796DA86DAC}" dt="2026-03-30T16:10:53.223" v="43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</a:rPr>
              <a:t>Efectividad percibida: Acompanamiento vs. Aislamiento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Efectividad (%)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71-48D4-BB64-D74FC8D2DC24}"/>
              </c:ext>
            </c:extLst>
          </c:dPt>
          <c:dPt>
            <c:idx val="1"/>
            <c:invertIfNegative val="0"/>
            <c:bubble3D val="0"/>
            <c:spPr>
              <a:solidFill>
                <a:srgbClr val="6B9E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71-48D4-BB64-D74FC8D2DC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Time-Out (Tiempo Fuera)</c:v>
                </c:pt>
                <c:pt idx="1">
                  <c:v>Time-In (Acompanamiento)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71-48D4-BB64-D74FC8D2DC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07F91-E64D-4646-9EEF-09B568070F09}" type="datetimeFigureOut"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E24B3-206D-4CEC-9C05-171CD157F2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edrive.live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6B9E78">
              <a:alpha val="25000"/>
            </a:srgbClr>
          </a:solidFill>
          <a:ln w="12700">
            <a:solidFill>
              <a:srgbClr val="6B9E7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3200400" cy="3200400"/>
          </a:xfrm>
          <a:prstGeom prst="ellipse">
            <a:avLst/>
          </a:prstGeom>
          <a:solidFill>
            <a:srgbClr val="C97D5B">
              <a:alpha val="20000"/>
            </a:srgbClr>
          </a:solidFill>
          <a:ln w="12700">
            <a:solidFill>
              <a:srgbClr val="C97D5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2560320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05840"/>
            <a:ext cx="2011680" cy="320040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EDUCACION INICIAL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Crianza Respetuosa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6B9E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la Primera Infancia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907792"/>
            <a:ext cx="50292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Fundamentos, neurociencia y estrategias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250" dirty="0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para </a:t>
            </a:r>
            <a:r>
              <a:rPr lang="en-US" sz="1250" dirty="0" err="1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acompanar</a:t>
            </a:r>
            <a:r>
              <a:rPr lang="en-US" sz="1250" dirty="0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250" dirty="0" err="1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250" dirty="0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 3 anos</a:t>
            </a:r>
            <a:endParaRPr lang="en-US" sz="1250" dirty="0" err="1"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3657600" cy="0"/>
          </a:xfrm>
          <a:prstGeom prst="line">
            <a:avLst/>
          </a:prstGeom>
          <a:noFill/>
          <a:ln w="19050">
            <a:solidFill>
              <a:srgbClr val="C97D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 dirty="0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Ginna Paola García Gómez</a:t>
            </a:r>
            <a:r>
              <a:rPr lang="en-US" sz="1000">
                <a:solidFill>
                  <a:srgbClr val="AABFB0"/>
                </a:solidFill>
                <a:latin typeface="Calibri"/>
                <a:ea typeface="Calibri"/>
                <a:cs typeface="Calibri"/>
              </a:rPr>
              <a:t>   | TIC 1939 UVRE1 1TI – 2026-1T</a:t>
            </a:r>
          </a:p>
        </p:txBody>
      </p:sp>
      <p:sp>
        <p:nvSpPr>
          <p:cNvPr id="12" name="Shape 10"/>
          <p:cNvSpPr/>
          <p:nvPr/>
        </p:nvSpPr>
        <p:spPr>
          <a:xfrm>
            <a:off x="137160" y="228600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" y="228600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28600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228600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" y="484632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" y="484632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84632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" y="484632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" y="740664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740664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" y="740664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" y="740664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" y="996696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996696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996696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" y="996696"/>
            <a:ext cx="64008" cy="64008"/>
          </a:xfrm>
          <a:prstGeom prst="ellipse">
            <a:avLst/>
          </a:prstGeom>
          <a:solidFill>
            <a:srgbClr val="6B9E78">
              <a:alpha val="40000"/>
            </a:srgbClr>
          </a:solidFill>
          <a:ln w="12700">
            <a:solidFill>
              <a:srgbClr val="6B9E7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C3E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 es la Crianza Respetuosa?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24128"/>
            <a:ext cx="7955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 un conjunto de trucos para que los ninos obedezcan, sino un cambio de paradigma que situa la relacion entre el adulto y el nino en el centro del desarrollo humano."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2606040" cy="10972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00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6B9E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 adulto-nino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centro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240280"/>
            <a:ext cx="2606040" cy="109728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3500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97D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46120" y="3063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Respeto al ritmo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madurativo del nino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2402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240280"/>
            <a:ext cx="2606040" cy="10972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3500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5B7F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035040" y="3063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antes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correccion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Respetuosa · Primera Infancia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C3E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Neurociencia del Desarrollo a los 3 Anos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9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actua asi? La biologia lo explica.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Limbico (Dominante)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Corteza Prefrontal (En Desarrollo)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Emociones basicas y primitivas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Razonamiento logico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de lucha o huida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impulsos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"Secuestro amigdalino"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Empatia y planificacion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01568"/>
            <a:ext cx="8229600" cy="914400"/>
          </a:xfrm>
          <a:prstGeom prst="rect">
            <a:avLst/>
          </a:prstGeom>
          <a:solidFill>
            <a:srgbClr val="2C3E35"/>
          </a:solidFill>
          <a:ln w="12700">
            <a:solidFill>
              <a:srgbClr val="2C3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401568"/>
            <a:ext cx="91440" cy="914400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44728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rabietas no son manipulacion. Pedir calma racional en ese momento es biologicamente imposible. Las neuronas espejo copian tu modelo: 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calma ES su aprendizaje.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Respetuosa · Primera Infancia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C3E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Validacion Emocional: El Pilar Fundamental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D6E8DA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09728" cy="7315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78408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=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 realidad interna del nino. No es estar de acuerdo con la conducta, es decirle: </a:t>
            </a:r>
            <a:r>
              <a:rPr lang="en-US" sz="1250" b="1" i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"Veo lo que sientes y es real para ti."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Validacion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"Entiendo que estes enojado,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no se puede pegar."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0" cy="868680"/>
          </a:xfrm>
          <a:prstGeom prst="rect">
            <a:avLst/>
          </a:prstGeom>
          <a:solidFill>
            <a:srgbClr val="E8E4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089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nino siente que sus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emociones son validas.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77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 saludable 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regulacion emocional.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4114800" cy="41148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Validacion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2402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llores, no es para tanto."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"Vete a tu cuarto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se te pase."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868680"/>
          </a:xfrm>
          <a:prstGeom prst="rect">
            <a:avLst/>
          </a:prstGeom>
          <a:solidFill>
            <a:srgbClr val="E8E4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089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nino aprende: "mis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emociones estan mal."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9776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9776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autoestima, represion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emocional, desconexion.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Respetuosa · Primera Infancia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3E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Estrategias para Acompanar en Momentos de Crisis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123444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Dentro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2788920" cy="1508760"/>
          </a:xfrm>
          <a:prstGeom prst="rect">
            <a:avLst/>
          </a:prstGeom>
          <a:solidFill>
            <a:srgbClr val="D6E8DA"/>
          </a:solidFill>
          <a:ln w="12700">
            <a:solidFill>
              <a:srgbClr val="D6E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fisicamente cerca. No des lecciones mientras llora. Ofrece contacto si el nino lo permite. El cerebro bajo estres no puede escuchar.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27832" y="100584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005840"/>
            <a:ext cx="2788920" cy="1234440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078992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9272" y="16642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9272" y="1993392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Dominar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7832" y="2240280"/>
            <a:ext cx="2788920" cy="1508760"/>
          </a:xfrm>
          <a:prstGeom prst="rect">
            <a:avLst/>
          </a:prstGeom>
          <a:solidFill>
            <a:srgbClr val="F5E0D5"/>
          </a:solidFill>
          <a:ln w="12700">
            <a:solidFill>
              <a:srgbClr val="F5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2860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calmado, ayudalo a relatar: "Estabas muy triste porque se rompio tu torre..." Esto conecta el hemisferio logico con el emocional.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1344" y="100584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1005840"/>
            <a:ext cx="2788920" cy="123444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8504" y="1078992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2784" y="16642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72784" y="1993392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2240280"/>
            <a:ext cx="2788920" cy="1508760"/>
          </a:xfrm>
          <a:prstGeom prst="rect">
            <a:avLst/>
          </a:prstGeom>
          <a:solidFill>
            <a:srgbClr val="D4E1EE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2860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"No corras!", di: "Camina lento para que tus pies esten seguros." Los limites buscan cooperacion, no obediencia por miedo.</a:t>
            </a:r>
            <a:endParaRPr lang="en-US" sz="11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74320" y="3858768"/>
          <a:ext cx="859536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Respetuosa · Primera Infancia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C3E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Autonomia y Limites: El Equilibrio Necesario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3 anos el nino vive su "primera adolescencia": necesita sentir poder sobre su vida dentro de un marco seguro establecido por el adulto.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20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9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1920240" cy="10972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" y="2487168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la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autonomia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42032" y="1600200"/>
            <a:ext cx="1920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7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600200"/>
            <a:ext cx="1920240" cy="109728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783080"/>
            <a:ext cx="640080" cy="640080"/>
          </a:xfrm>
          <a:prstGeom prst="ellipse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15184" y="2487168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opciones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"Azul o roja?"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18304" y="1600200"/>
            <a:ext cx="1920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7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600200"/>
            <a:ext cx="1920240" cy="10972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1783080"/>
            <a:ext cx="640080" cy="640080"/>
          </a:xfrm>
          <a:prstGeom prst="ellipse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91456" y="2487168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nino decide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siente poder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su vida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56832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94576" y="1600200"/>
            <a:ext cx="1920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3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1600200"/>
            <a:ext cx="1920240" cy="109728"/>
          </a:xfrm>
          <a:prstGeom prst="rect">
            <a:avLst/>
          </a:prstGeom>
          <a:solidFill>
            <a:srgbClr val="2C3E35"/>
          </a:solidFill>
          <a:ln w="12700">
            <a:solidFill>
              <a:srgbClr val="2C3E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34656" y="1783080"/>
            <a:ext cx="640080" cy="640080"/>
          </a:xfrm>
          <a:prstGeom prst="ellipse">
            <a:avLst/>
          </a:prstGeom>
          <a:solidFill>
            <a:srgbClr val="2C3E35"/>
          </a:solidFill>
          <a:ln w="12700">
            <a:solidFill>
              <a:srgbClr val="2C3E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67728" y="2487168"/>
            <a:ext cx="17739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adulto mantiene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limite: el nino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seguro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31920"/>
            <a:ext cx="109728" cy="868680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0208"/>
            <a:ext cx="78638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co-reguladores de sus emociones hasta que su cerebro pueda hacerlo por si mismo. La crianza respetuosa sienta las bases de la inteligencia emocional para toda la vida.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Respetuosa · Primera Infancia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6B9E78">
              <a:alpha val="20000"/>
            </a:srgbClr>
          </a:solidFill>
          <a:ln w="12700">
            <a:solidFill>
              <a:srgbClr val="6B9E7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C97D5B">
              <a:alpha val="18000"/>
            </a:srgbClr>
          </a:solidFill>
          <a:ln w="12700">
            <a:solidFill>
              <a:srgbClr val="C97D5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20040"/>
            <a:ext cx="2743200" cy="320040"/>
          </a:xfrm>
          <a:prstGeom prst="rect">
            <a:avLst/>
          </a:prstGeom>
          <a:solidFill>
            <a:srgbClr val="C97D5B"/>
          </a:solidFill>
          <a:ln w="12700">
            <a:solidFill>
              <a:srgbClr val="C97D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Documento Completo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acceder al documento completo con todos los fundamentos teoricos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A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estrategias de Crianza Respetuosa, usa el siguiente enlace:</a:t>
            </a:r>
            <a:endParaRPr lang="en-US" sz="1250" dirty="0"/>
          </a:p>
        </p:txBody>
      </p:sp>
      <p:sp>
        <p:nvSpPr>
          <p:cNvPr id="8" name="Shape 6">
            <a:hlinkClick r:id="rId3" tooltip="Ver documento en OneDrive"/>
          </p:cNvPr>
          <p:cNvSpPr/>
          <p:nvPr/>
        </p:nvSpPr>
        <p:spPr>
          <a:xfrm>
            <a:off x="2560320" y="2286000"/>
            <a:ext cx="4023360" cy="59436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hlinkClick r:id="rId3" tooltip="Ver documento en OneDrive"/>
          </p:cNvPr>
          <p:cNvSpPr/>
          <p:nvPr/>
        </p:nvSpPr>
        <p:spPr>
          <a:xfrm>
            <a:off x="2560320" y="22860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Ver documento en OneDri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documento en OneDrive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971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8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(Reemplaza este enlace con tu URL real de OneDrive)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C97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93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Estudiante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Curso  |  Institucion  | 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9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"Criar con respeto es la inversion mas rentable que existe: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C9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mide en obediencia, sino en amor propio."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2821"/>
          </a:solidFill>
          <a:ln w="12700">
            <a:solidFill>
              <a:srgbClr val="1A28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Respetuosa · Primera Infancia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4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Crianza Respetuosa en la Primera Infancia</dc:title>
  <dc:subject>PptxGenJS Presentation</dc:subject>
  <dc:creator>Estudiante</dc:creator>
  <cp:lastModifiedBy>Estudiante</cp:lastModifiedBy>
  <cp:revision>18</cp:revision>
  <dcterms:created xsi:type="dcterms:W3CDTF">2026-03-30T15:59:38Z</dcterms:created>
  <dcterms:modified xsi:type="dcterms:W3CDTF">2026-03-30T16:19:24Z</dcterms:modified>
</cp:coreProperties>
</file>