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4"/>
  </p:notesMasterIdLst>
  <p:handoutMasterIdLst>
    <p:handoutMasterId r:id="rId5"/>
  </p:handout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0BA2838-AC78-7569-0ECF-2E52025D0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3267EE-8B1A-0018-8453-4B0D2AE7A4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FD2A2-90B5-4162-AF63-1A4F9D7D49BD}" type="datetimeFigureOut">
              <a:rPr lang="es-CO" smtClean="0"/>
              <a:t>26/03/2026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1900F1-8561-07BA-C0AF-8EDF7AC02E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D89C9B-7571-A5AD-4E82-2594DE6825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94EA3-17A8-4E82-9923-0C06EC38CD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2056369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12FE9-C2ED-4DED-A3F7-18913385C2E7}" type="datetimeFigureOut">
              <a:rPr lang="es-CO" smtClean="0"/>
              <a:t>26/03/2026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81A04-B072-43E2-878F-5B5A8153BC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337751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81A04-B072-43E2-878F-5B5A8153BC06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1302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1F45-07A7-A52E-7A1D-7C0B6702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094750-A067-45F0-8863-71F1B0661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4F8899-8140-7681-D787-E5F3FB771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4510C270-FA93-FF8B-3141-81D5549D784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49988-C847-02DC-2EBF-591542AEC7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6EEFCD-7256-546A-8928-1BE62859A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81A04-B072-43E2-878F-5B5A8153BC0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2495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2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6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1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5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5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4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5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4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/>
              <a:t>26/03/2026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1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s-CO"/>
              <a:t>26/03/2026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s-ES"/>
              <a:t>Módulo de Desarrollo Infantil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2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5" r:id="rId2"/>
    <p:sldLayoutId id="2147483744" r:id="rId3"/>
    <p:sldLayoutId id="2147483743" r:id="rId4"/>
    <p:sldLayoutId id="2147483742" r:id="rId5"/>
    <p:sldLayoutId id="2147483741" r:id="rId6"/>
    <p:sldLayoutId id="2147483740" r:id="rId7"/>
    <p:sldLayoutId id="2147483739" r:id="rId8"/>
    <p:sldLayoutId id="2147483738" r:id="rId9"/>
    <p:sldLayoutId id="2147483737" r:id="rId10"/>
    <p:sldLayoutId id="214748373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7" name="Picture 6" descr="Manos de dos adultos y un niño una encima de la otra">
            <a:extLst>
              <a:ext uri="{FF2B5EF4-FFF2-40B4-BE49-F238E27FC236}">
                <a16:creationId xmlns:a16="http://schemas.microsoft.com/office/drawing/2014/main" id="{93E2EAC8-C261-E394-923E-DF3A5971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048017-6BB0-815E-E2C1-19F4055DB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s-CO" sz="6100" dirty="0">
                <a:solidFill>
                  <a:schemeClr val="tx2">
                    <a:lumMod val="90000"/>
                  </a:schemeClr>
                </a:solidFill>
              </a:rPr>
              <a:t>Crianza Respetuosa en la Primera Infancia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6FE5FF-8FBE-063B-FEFD-D83C514D3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s-CO" sz="2200" dirty="0">
                <a:solidFill>
                  <a:schemeClr val="tx2">
                    <a:lumMod val="75000"/>
                  </a:schemeClr>
                </a:solidFill>
              </a:rPr>
              <a:t>Un cambio de paradigma basado en el relación y la neurociencia.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12B8053-7265-D18F-A8E9-69F8DD33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200" dirty="0">
                <a:solidFill>
                  <a:schemeClr val="tx2"/>
                </a:solidFill>
              </a:rPr>
              <a:t>26/03/2026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2B08D9-10FD-C69A-0D55-D8470D38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43800" y="6453002"/>
            <a:ext cx="393192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sz="1200" dirty="0">
                <a:solidFill>
                  <a:schemeClr val="tx2"/>
                </a:solidFill>
              </a:rPr>
              <a:t>Módulo de Desarrollo Infantil 2026</a:t>
            </a:r>
            <a:endParaRPr lang="es-CO" sz="1200" dirty="0">
              <a:solidFill>
                <a:schemeClr val="tx2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52994C-8B79-6EB1-4953-59FD3241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453002"/>
            <a:ext cx="5852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3101A83-1477-4DDC-8680-944DB877C1C8}" type="slidenum">
              <a:rPr lang="es-CO" sz="1200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</a:t>
            </a:fld>
            <a:endParaRPr lang="es-CO" sz="1200" dirty="0">
              <a:solidFill>
                <a:schemeClr val="tx2"/>
              </a:solidFill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702BA54E-57DA-85EC-42FA-2720159B611F}"/>
              </a:ext>
            </a:extLst>
          </p:cNvPr>
          <p:cNvSpPr txBox="1">
            <a:spLocks/>
          </p:cNvSpPr>
          <p:nvPr/>
        </p:nvSpPr>
        <p:spPr>
          <a:xfrm>
            <a:off x="8260060" y="-2"/>
            <a:ext cx="393192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s-ES" sz="1200" dirty="0">
                <a:solidFill>
                  <a:schemeClr val="tx2"/>
                </a:solidFill>
              </a:rPr>
              <a:t>Fundamentos de  la Crianza Respetuosa</a:t>
            </a:r>
            <a:endParaRPr lang="es-CO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060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F34D1-9B7A-138D-CC09-68988D7C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7F6BB-A8B6-46CA-22BF-0F22E795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l"/>
            <a:r>
              <a:rPr lang="es-CO" sz="3600" dirty="0">
                <a:solidFill>
                  <a:schemeClr val="tx2">
                    <a:lumMod val="25000"/>
                  </a:schemeClr>
                </a:solidFill>
              </a:rPr>
              <a:t>¿Qué es la Crianza Respetuosa?</a:t>
            </a:r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9F4C0FB7-601C-68E8-84A8-21447D2C7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7641" y="1680898"/>
            <a:ext cx="5181600" cy="1132258"/>
          </a:xfrm>
        </p:spPr>
        <p:txBody>
          <a:bodyPr>
            <a:noAutofit/>
          </a:bodyPr>
          <a:lstStyle/>
          <a:p>
            <a:r>
              <a:rPr lang="es-CO" sz="2800" dirty="0">
                <a:solidFill>
                  <a:schemeClr val="tx2">
                    <a:lumMod val="10000"/>
                  </a:schemeClr>
                </a:solidFill>
              </a:rPr>
              <a:t>No son “trucos” para que los niños obedezcan.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1DB89886-1C4C-8DA7-3873-C4779EB9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200">
                <a:solidFill>
                  <a:prstClr val="white"/>
                </a:solidFill>
              </a:rPr>
              <a:t>26/03/2026</a:t>
            </a:r>
            <a:endParaRPr lang="es-CO" sz="1200" dirty="0">
              <a:solidFill>
                <a:prstClr val="white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8F4BE0-A073-35AF-AEC8-431D0501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FFFFFF"/>
                </a:solidFill>
              </a:rPr>
              <a:t>Módulo de Desarrollo Infantil 2026</a:t>
            </a:r>
            <a:endParaRPr lang="es-CO" sz="1200" dirty="0">
              <a:solidFill>
                <a:srgbClr val="FFFFFF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8E9B73-2246-7EB7-C015-E41A567F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3101A83-1477-4DDC-8680-944DB877C1C8}" type="slidenum">
              <a:rPr lang="es-CO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s-CO" sz="1200">
              <a:solidFill>
                <a:srgbClr val="FFFFFF"/>
              </a:solidFill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8D871A29-A7DC-26AC-D607-C31F08B5BBBB}"/>
              </a:ext>
            </a:extLst>
          </p:cNvPr>
          <p:cNvSpPr txBox="1">
            <a:spLocks/>
          </p:cNvSpPr>
          <p:nvPr/>
        </p:nvSpPr>
        <p:spPr>
          <a:xfrm>
            <a:off x="8260060" y="-2"/>
            <a:ext cx="393192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s-ES" sz="1200" dirty="0">
                <a:solidFill>
                  <a:schemeClr val="tx2"/>
                </a:solidFill>
              </a:rPr>
              <a:t>Fundamentos de  la Crianza Respetuosa</a:t>
            </a:r>
            <a:endParaRPr lang="es-CO" sz="1200" dirty="0">
              <a:solidFill>
                <a:schemeClr val="tx2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EB965CA-8D05-7EC6-8F30-FC470462D837}"/>
              </a:ext>
            </a:extLst>
          </p:cNvPr>
          <p:cNvSpPr txBox="1">
            <a:spLocks/>
          </p:cNvSpPr>
          <p:nvPr/>
        </p:nvSpPr>
        <p:spPr>
          <a:xfrm>
            <a:off x="6173721" y="1450784"/>
            <a:ext cx="5958840" cy="4803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s-CO" sz="22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549572D-503E-BB98-7AB7-4FD14355E318}"/>
              </a:ext>
            </a:extLst>
          </p:cNvPr>
          <p:cNvSpPr/>
          <p:nvPr/>
        </p:nvSpPr>
        <p:spPr>
          <a:xfrm>
            <a:off x="470257" y="2365042"/>
            <a:ext cx="5548023" cy="243111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2">
                    <a:lumMod val="25000"/>
                  </a:schemeClr>
                </a:solidFill>
              </a:rPr>
              <a:t>“</a:t>
            </a:r>
            <a:r>
              <a:rPr lang="es-CO" sz="2400" b="1" dirty="0">
                <a:solidFill>
                  <a:schemeClr val="tx2">
                    <a:lumMod val="25000"/>
                  </a:schemeClr>
                </a:solidFill>
              </a:rPr>
              <a:t>Crianza Respetuosa</a:t>
            </a:r>
            <a:r>
              <a:rPr lang="es-CO" sz="2400" dirty="0">
                <a:solidFill>
                  <a:schemeClr val="tx2">
                    <a:lumMod val="25000"/>
                  </a:schemeClr>
                </a:solidFill>
              </a:rPr>
              <a:t>: Situar </a:t>
            </a:r>
            <a:r>
              <a:rPr lang="es-CO" sz="2400" b="1" dirty="0">
                <a:solidFill>
                  <a:schemeClr val="tx2">
                    <a:lumMod val="25000"/>
                  </a:schemeClr>
                </a:solidFill>
              </a:rPr>
              <a:t>la relación entre el adulto y el niño</a:t>
            </a:r>
            <a:r>
              <a:rPr lang="es-CO" sz="2400" dirty="0">
                <a:solidFill>
                  <a:schemeClr val="tx2">
                    <a:lumMod val="25000"/>
                  </a:schemeClr>
                </a:solidFill>
              </a:rPr>
              <a:t> en el centro del </a:t>
            </a:r>
            <a:r>
              <a:rPr lang="es-CO" sz="2400" b="1" dirty="0">
                <a:solidFill>
                  <a:schemeClr val="tx2">
                    <a:lumMod val="25000"/>
                  </a:schemeClr>
                </a:solidFill>
              </a:rPr>
              <a:t>desarrollo</a:t>
            </a:r>
            <a:r>
              <a:rPr lang="es-CO" sz="2400" dirty="0">
                <a:solidFill>
                  <a:schemeClr val="tx2">
                    <a:lumMod val="25000"/>
                  </a:schemeClr>
                </a:solidFill>
              </a:rPr>
              <a:t> humano.”</a:t>
            </a:r>
          </a:p>
        </p:txBody>
      </p:sp>
      <p:sp>
        <p:nvSpPr>
          <p:cNvPr id="18" name="Marcador de contenido 16">
            <a:extLst>
              <a:ext uri="{FF2B5EF4-FFF2-40B4-BE49-F238E27FC236}">
                <a16:creationId xmlns:a16="http://schemas.microsoft.com/office/drawing/2014/main" id="{4E7FAA89-26CB-A175-0E72-43A1AF9A5731}"/>
              </a:ext>
            </a:extLst>
          </p:cNvPr>
          <p:cNvSpPr txBox="1">
            <a:spLocks/>
          </p:cNvSpPr>
          <p:nvPr/>
        </p:nvSpPr>
        <p:spPr>
          <a:xfrm>
            <a:off x="6327641" y="3017940"/>
            <a:ext cx="5181600" cy="21298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dirty="0">
                <a:solidFill>
                  <a:schemeClr val="tx2">
                    <a:lumMod val="10000"/>
                  </a:schemeClr>
                </a:solidFill>
              </a:rPr>
              <a:t>Una transición profunda donde la autonomía incipiente choca con la inmadurez neurológica.</a:t>
            </a:r>
          </a:p>
        </p:txBody>
      </p:sp>
    </p:spTree>
    <p:extLst>
      <p:ext uri="{BB962C8B-B14F-4D97-AF65-F5344CB8AC3E}">
        <p14:creationId xmlns:p14="http://schemas.microsoft.com/office/powerpoint/2010/main" val="3601923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build="p"/>
      <p:bldP spid="11" grpId="0" animBg="1"/>
      <p:bldP spid="18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5307</TotalTime>
  <Words>95</Words>
  <Application>Microsoft Office PowerPoint</Application>
  <PresentationFormat>Panorámica</PresentationFormat>
  <Paragraphs>16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Arial</vt:lpstr>
      <vt:lpstr>Neue Haas Grotesk Text Pro</vt:lpstr>
      <vt:lpstr>VanillaVTI</vt:lpstr>
      <vt:lpstr>Crianza Respetuosa en la Primera Infancia</vt:lpstr>
      <vt:lpstr>¿Qué es la Crianza Respetuosa?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CEBALLOS</dc:creator>
  <cp:lastModifiedBy>Juan CEBALLOS</cp:lastModifiedBy>
  <cp:revision>1</cp:revision>
  <dcterms:created xsi:type="dcterms:W3CDTF">2026-03-27T00:16:54Z</dcterms:created>
  <dcterms:modified xsi:type="dcterms:W3CDTF">2026-03-30T16:44:14Z</dcterms:modified>
</cp:coreProperties>
</file>